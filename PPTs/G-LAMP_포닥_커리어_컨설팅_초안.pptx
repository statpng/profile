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3" r:id="rId4"/>
    <p:sldId id="258" r:id="rId5"/>
    <p:sldId id="272" r:id="rId6"/>
    <p:sldId id="259" r:id="rId7"/>
    <p:sldId id="280" r:id="rId8"/>
    <p:sldId id="282" r:id="rId9"/>
    <p:sldId id="260" r:id="rId10"/>
    <p:sldId id="261" r:id="rId11"/>
    <p:sldId id="262" r:id="rId12"/>
    <p:sldId id="263" r:id="rId13"/>
    <p:sldId id="264" r:id="rId14"/>
    <p:sldId id="278" r:id="rId15"/>
    <p:sldId id="265" r:id="rId16"/>
    <p:sldId id="266" r:id="rId17"/>
    <p:sldId id="276" r:id="rId18"/>
    <p:sldId id="267" r:id="rId19"/>
    <p:sldId id="268" r:id="rId20"/>
    <p:sldId id="269" r:id="rId21"/>
    <p:sldId id="284" r:id="rId22"/>
    <p:sldId id="285" r:id="rId23"/>
    <p:sldId id="270" r:id="rId24"/>
    <p:sldId id="27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41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FB35-FE99-3B57-158B-84FA7FE6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0B4EC-A574-008F-BFA7-C813376DE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FDAC7-CF7E-5AAB-7BC8-BC104A8ED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F1A66-4793-AC3E-D8A1-6FF783F11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60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7C21-2587-15A2-11B7-18761D93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D373D-55A6-A068-05EC-35E8E5BE3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50EA0-C2E8-09DF-12F4-0A4FD89A8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C2275-1C43-EC87-D805-453BB9E19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11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54C2C-6234-10A0-0AC8-086E0652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7AA92-AC2C-0359-3242-FEB6DEFBE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2EC0F-14DE-A743-4854-85DB6A192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FAB08-CD08-3215-835D-5B38F797A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38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3E2E-C0F2-BD39-DFFC-20345E2B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FA4A7-7DEF-5D0E-E07E-61392CEC8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82834-F462-C911-F250-5DB1ED24B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90A2A-C463-A669-3C8B-E62A78FE1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31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7B65D-CA56-A1E4-476E-90DF5D48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4A669-FE8C-E37A-1641-17F23AAC1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553B7-3594-767E-8462-7FC3A8759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DF147-4DBD-4D87-7B61-DA0EDEB80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192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409D-945C-4000-80A2-8B8F583F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94" y="165416"/>
            <a:ext cx="8791956" cy="546497"/>
          </a:xfrm>
          <a:prstGeom prst="rect">
            <a:avLst/>
          </a:prstGeom>
        </p:spPr>
        <p:txBody>
          <a:bodyPr/>
          <a:lstStyle>
            <a:lvl1pPr algn="l">
              <a:defRPr lang="en-US" sz="2400" dirty="0">
                <a:solidFill>
                  <a:srgbClr val="261CA3"/>
                </a:solidFill>
                <a:latin typeface="Helvetica" pitchFamily="2" charset="0"/>
                <a:ea typeface="+mj-ea"/>
                <a:cs typeface="ＭＳ Ｐゴシック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58EF7-D2E6-A648-D663-A908ACF4B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" y="923667"/>
            <a:ext cx="8791956" cy="3940117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25000"/>
              </a:lnSpc>
              <a:buFont typeface="Wingdings" pitchFamily="2" charset="2"/>
              <a:buChar char="q"/>
              <a:defRPr sz="1800"/>
            </a:lvl1pPr>
            <a:lvl2pPr marL="557213" indent="-214313">
              <a:lnSpc>
                <a:spcPct val="125000"/>
              </a:lnSpc>
              <a:buFont typeface="Wingdings" pitchFamily="2" charset="2"/>
              <a:buChar char="Ø"/>
              <a:defRPr sz="1800"/>
            </a:lvl2pPr>
            <a:lvl3pPr marL="857250" indent="-1714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>
              <a:lnSpc>
                <a:spcPct val="125000"/>
              </a:lnSpc>
              <a:defRPr sz="1800"/>
            </a:lvl4pPr>
            <a:lvl5pPr>
              <a:lnSpc>
                <a:spcPct val="125000"/>
              </a:lnSpc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F0FC98-76DD-03D7-C814-D5E04136B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68729" y="4863784"/>
            <a:ext cx="838200" cy="228600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r>
              <a:rPr lang="en-US" altLang="en-US" dirty="0"/>
              <a:t>Page  </a:t>
            </a:r>
            <a:fld id="{1CA14D81-9E2D-EC40-8FA2-2D6051934CD8}" type="slidenum">
              <a:rPr lang="en-US" altLang="en-US" smtClean="0"/>
              <a:pPr/>
              <a:t>‹#›</a:t>
            </a:fld>
            <a:endParaRPr lang="en-US" altLang="en-US" sz="80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99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logo&#10;&#10;AI-generated content may be incorrect.">
            <a:extLst>
              <a:ext uri="{FF2B5EF4-FFF2-40B4-BE49-F238E27FC236}">
                <a16:creationId xmlns:a16="http://schemas.microsoft.com/office/drawing/2014/main" id="{FB184E36-7420-EFF3-B7EF-9FA80DE85B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98" y="61889"/>
            <a:ext cx="2826055" cy="24291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33A3D181-7A15-4F9A-1BE6-94D9AA1962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68729" y="4863784"/>
            <a:ext cx="838200" cy="228600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r>
              <a:rPr lang="en-US" altLang="en-US" dirty="0"/>
              <a:t>page </a:t>
            </a:r>
            <a:fld id="{1CA14D81-9E2D-EC40-8FA2-2D6051934CD8}" type="slidenum">
              <a:rPr lang="en-US" altLang="en-US" smtClean="0"/>
              <a:pPr/>
              <a:t>‹#›</a:t>
            </a:fld>
            <a:endParaRPr lang="en-US" altLang="en-US"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 포닥 커리어 컨설팅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 포닥에서 교원으로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준비 과정과 교수 생활의 현실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</a:t>
            </a:r>
            <a:r>
              <a:rPr lang="ko-KR" altLang="en-US" sz="1300" dirty="0" err="1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김기풍</a:t>
            </a: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300" dirty="0" err="1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국립창원</a:t>
            </a:r>
            <a:r>
              <a:rPr lang="en-US" sz="1300" dirty="0" err="1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대학교</a:t>
            </a: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lang="en-US" sz="1300" dirty="0" err="1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</a:t>
            </a: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</a:t>
            </a:r>
            <a:r>
              <a:rPr lang="en-US" altLang="ko-KR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r>
              <a:rPr lang="en-US" sz="1300" dirty="0">
                <a:solidFill>
                  <a:srgbClr val="9FB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|  서울대학교 G-LAMP 사업단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나눌 이야기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777240" y="138074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3807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동기와 임용 과정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92040" y="138074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지원했고, 어떤 단계를 거쳤는가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77240" y="211226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112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생활의</a:t>
            </a: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11226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패턴, 보직과 업무,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수업과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r>
              <a:rPr lang="en-US" altLang="ko-KR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전과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인간관계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공동연구와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77240" y="284378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8437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 국립대 교수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8437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777240" y="35753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75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주의해야 할 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57530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호봉 산정, 행정 문화와 두 가지 사례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3068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43068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왜 교수가 되고 싶은가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8138160" cy="1463040"/>
          </a:xfrm>
          <a:prstGeom prst="roundRect">
            <a:avLst>
              <a:gd name="adj" fmla="val 4375"/>
            </a:avLst>
          </a:prstGeom>
          <a:solidFill>
            <a:srgbClr val="FBEE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발표에서 말씀드리는 내용들은 대부분 </a:t>
            </a:r>
            <a:r>
              <a:rPr lang="en-US" sz="150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</a:t>
            </a:r>
            <a:r>
              <a:rPr lang="en-US" sz="15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r>
              <a:rPr lang="ko-KR" altLang="en-US" sz="15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규정 및 상황</a:t>
            </a:r>
            <a:r>
              <a:rPr lang="en-US" sz="150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5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의거한 것이기 때문에, 다른 학교에서는 다르게 적용될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지원 동기와 임용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교수직에 지원했는가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연구를 계속하고 싶어서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정한 주제를, 내 속도로, 오래 연구할 수 있는 자리. 결국 가장 근본적인 동기였습니다.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352044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가르치는 일에 대한 관심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32004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내용을 학생들과 나누고, 후속 세대를 키우는 일에 대한 기대가 있었습니다.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1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86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연구 환경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32004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포닥의 불확실성에서 벗어나 장기적인 연구 계획을 세울 수 있는 기반이 필요했습니다.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5D653D-2E46-FDEF-0714-E9A14D89B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0" r="13814" b="40348"/>
          <a:stretch>
            <a:fillRect/>
          </a:stretch>
        </p:blipFill>
        <p:spPr>
          <a:xfrm>
            <a:off x="307818" y="867667"/>
            <a:ext cx="8528364" cy="401945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B15BE62-24B2-1D8D-A7F3-FB218707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History</a:t>
            </a:r>
            <a:r>
              <a:rPr lang="ko-KR" altLang="en-US" dirty="0"/>
              <a:t>  </a:t>
            </a:r>
            <a:r>
              <a:rPr lang="en-US" altLang="ko-KR" dirty="0"/>
              <a:t>(</a:t>
            </a:r>
            <a:r>
              <a:rPr lang="en-US" altLang="ko-KR" dirty="0" err="1"/>
              <a:t>www.statpng.com</a:t>
            </a:r>
            <a:r>
              <a:rPr lang="en-US" altLang="ko-KR" dirty="0"/>
              <a:t>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46167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지원 동기와 임용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 포닥에서 G-LAMP 교원으로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 임용 </a:t>
            </a:r>
            <a:r>
              <a:rPr lang="en-US" sz="13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과정을</a:t>
            </a:r>
            <a:r>
              <a:rPr lang="en-US" sz="13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요약하면 다음과 같습니다.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확인·서류 지원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</a:t>
            </a:r>
            <a:r>
              <a:rPr lang="en-US" sz="1000" dirty="0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공고 확인, </a:t>
            </a:r>
            <a:r>
              <a:rPr lang="en-US" sz="1000" dirty="0" err="1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연구실적·연구계획서</a:t>
            </a:r>
            <a:r>
              <a:rPr lang="en-US" sz="1000" dirty="0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70048" y="17830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2898648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98648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</a:t>
            </a:r>
            <a:r>
              <a:rPr lang="en-US" sz="13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98648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지원자격에 맞추어</a:t>
            </a:r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제출한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틀리지 않았는지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endParaRPr lang="en-US" sz="10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0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두번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세번 </a:t>
            </a:r>
            <a:r>
              <a:rPr lang="ko-KR" alt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확인할것</a:t>
            </a:r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!)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37176" y="17830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5065776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65776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전공심사 </a:t>
            </a:r>
            <a:r>
              <a:rPr lang="en-US" altLang="ko-KR" sz="13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&amp;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논문 서면평가</a:t>
            </a:r>
            <a:endParaRPr lang="en-US" sz="10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논문 혹은 종합적 커리어 발표</a:t>
            </a:r>
            <a:r>
              <a:rPr lang="en-US" altLang="ko-KR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57416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04304" y="17830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232904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32904" y="25146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심사·최종 임용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32904" y="31546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총장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</a:t>
            </a:r>
            <a:r>
              <a:rPr lang="en-US" sz="10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0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434340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777240" y="445968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Tip: </a:t>
            </a:r>
            <a:r>
              <a:rPr lang="ko-KR" alt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학교</a:t>
            </a:r>
            <a:r>
              <a:rPr lang="en-US" altLang="ko-KR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퇴직 예정이신 교수님들을 파악해두면 좋습니다</a:t>
            </a:r>
            <a:r>
              <a:rPr lang="en-US" altLang="ko-KR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그치만</a:t>
            </a:r>
            <a:r>
              <a:rPr lang="en-US" altLang="ko-KR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반드시 </a:t>
            </a:r>
            <a:r>
              <a:rPr lang="en-US" altLang="ko-KR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</a:t>
            </a:r>
            <a:r>
              <a:rPr lang="ko-KR" altLang="en-US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난다는 보장은 없음</a:t>
            </a:r>
            <a:r>
              <a:rPr lang="en-US" altLang="ko-KR" sz="11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    여러 학교에 </a:t>
            </a:r>
            <a:r>
              <a:rPr lang="ko-KR" alt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지원시</a:t>
            </a:r>
            <a:r>
              <a:rPr lang="en-US" altLang="ko-KR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최종합격통보 받기 전까지 지원 철회하지 </a:t>
            </a:r>
            <a:r>
              <a:rPr lang="ko-KR" altLang="en-US" sz="1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말것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1452D-9ADD-82CF-5606-40E713B0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B8D609-0316-BE93-A347-FAAB2A0F87D3}"/>
              </a:ext>
            </a:extLst>
          </p:cNvPr>
          <p:cNvSpPr/>
          <p:nvPr/>
        </p:nvSpPr>
        <p:spPr>
          <a:xfrm>
            <a:off x="502920" y="2926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지원 동기와 임용 과정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6A10FF-E5E8-297A-23CE-8E358CD56E0F}"/>
              </a:ext>
            </a:extLst>
          </p:cNvPr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 </a:t>
            </a: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되면 무엇이 달라지는가</a:t>
            </a:r>
            <a:r>
              <a:rPr lang="en-US" altLang="ko-KR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3A6C2E-08AE-2C2E-3FB5-04D0EE5B5CDF}"/>
              </a:ext>
            </a:extLst>
          </p:cNvPr>
          <p:cNvSpPr/>
          <p:nvPr/>
        </p:nvSpPr>
        <p:spPr>
          <a:xfrm>
            <a:off x="502920" y="1321917"/>
            <a:ext cx="8206514" cy="72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실적의 압박에 시달립니다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…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   논문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및 연구활동 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 예산집행 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평가에 반영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3F38F31C-400B-22C9-D90C-F6BCC5F79E77}"/>
              </a:ext>
            </a:extLst>
          </p:cNvPr>
          <p:cNvSpPr/>
          <p:nvPr/>
        </p:nvSpPr>
        <p:spPr>
          <a:xfrm>
            <a:off x="502920" y="2290528"/>
            <a:ext cx="8206514" cy="2779414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/>
          <a:lstStyle/>
          <a:p>
            <a:r>
              <a:rPr lang="ko-KR" altLang="en-US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논문 및 연구활동     </a:t>
            </a:r>
            <a:r>
              <a:rPr lang="en-US" altLang="ko-KR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논문 많이 쓰고 활동 많이 해라</a:t>
            </a:r>
            <a:r>
              <a:rPr lang="en-US" altLang="ko-KR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..)</a:t>
            </a:r>
          </a:p>
          <a:p>
            <a:endParaRPr lang="en-US" altLang="ko-KR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Q1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이상의 논문 작성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(1.5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편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년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=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팀당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편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공동연구 논문 작성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교수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인당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편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국제 연구교류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국외출장 등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MOU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체결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특허 및 기술이전 등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111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8B1C5-3B02-EE7B-855E-20EEF0FF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A4FA4F-66EA-2A2A-847E-EA4A77050029}"/>
              </a:ext>
            </a:extLst>
          </p:cNvPr>
          <p:cNvSpPr/>
          <p:nvPr/>
        </p:nvSpPr>
        <p:spPr>
          <a:xfrm>
            <a:off x="502920" y="2926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지원 동기와 임용 과정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C3CAB6-DEE7-5D9C-0A50-438F8840469E}"/>
              </a:ext>
            </a:extLst>
          </p:cNvPr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 </a:t>
            </a: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되면 무엇이 달라지는가</a:t>
            </a:r>
            <a:r>
              <a:rPr lang="en-US" altLang="ko-KR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E340404-044A-6FCF-0ECD-8B61E2CC5E36}"/>
              </a:ext>
            </a:extLst>
          </p:cNvPr>
          <p:cNvSpPr/>
          <p:nvPr/>
        </p:nvSpPr>
        <p:spPr>
          <a:xfrm>
            <a:off x="502920" y="2290528"/>
            <a:ext cx="8206514" cy="2779414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/>
          <a:lstStyle/>
          <a:p>
            <a:r>
              <a:rPr lang="ko-KR" altLang="en-US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예산집행        </a:t>
            </a:r>
            <a:r>
              <a:rPr lang="en-US" altLang="ko-KR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돈 쓰느라 논문을 못 씁니다</a:t>
            </a:r>
            <a:r>
              <a:rPr lang="en-US" altLang="ko-KR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..)</a:t>
            </a:r>
          </a:p>
          <a:p>
            <a:endParaRPr lang="en-US" altLang="ko-KR" b="1" dirty="0"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교원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인당 연구활동비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4600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만원</a:t>
            </a:r>
            <a:b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</a:br>
            <a:endParaRPr lang="en-US" altLang="ko-KR" sz="7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  </a:t>
            </a:r>
            <a:r>
              <a:rPr lang="ko-KR" altLang="en-US" strike="sngStrike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재료비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자문료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회의비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b="1" u="sng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출장비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사무용품비*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교육훈련비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소프트웨어활용비</a:t>
            </a:r>
            <a:b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</a:br>
            <a:endParaRPr lang="en-US" altLang="ko-KR" sz="10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*사무용품비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: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altLang="ko-KR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연구용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PC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제외한 사무용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PC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만 구매가능</a:t>
            </a:r>
            <a:endParaRPr lang="en-US" altLang="ko-KR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애플제품 구매 불가</a:t>
            </a:r>
            <a:endParaRPr lang="en-US" altLang="ko-KR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아이패드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노트북 등 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모든 책임을 지겠다는</a:t>
            </a:r>
            <a:r>
              <a:rPr lang="en-US" altLang="ko-KR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사유서 작성 후 구매 가능</a:t>
            </a:r>
            <a:endParaRPr lang="en-US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ADA3A45-8725-6F01-C0B9-44F005718235}"/>
              </a:ext>
            </a:extLst>
          </p:cNvPr>
          <p:cNvSpPr/>
          <p:nvPr/>
        </p:nvSpPr>
        <p:spPr>
          <a:xfrm>
            <a:off x="502920" y="1321917"/>
            <a:ext cx="8206514" cy="72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실적의 압박에 시달립니다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…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   논문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및 연구활동 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 예산집행 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latin typeface="Malgun Gothic" pitchFamily="34" charset="0"/>
                <a:ea typeface="Malgun Gothic" pitchFamily="34" charset="-122"/>
              </a:rPr>
              <a:t>평가에 반영</a:t>
            </a:r>
            <a:r>
              <a:rPr lang="en-US" altLang="ko-KR" b="1" dirty="0"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364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2874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생활의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교수의 1년은 이렇게 흘러갑니다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1371600"/>
            <a:ext cx="6675120" cy="658368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40280" y="14173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  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수업·지도 + 상반기 연구과제 공고 집중 (신청서 작성 시즌)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6~8월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65960" y="2167128"/>
            <a:ext cx="6675120" cy="658368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2240280" y="22128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여름방학  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밀린 연구·논문 작성, 학회 참석, 계절 업무·평가위원 활동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6265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9~12월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65960" y="2962656"/>
            <a:ext cx="6675120" cy="658368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2240280" y="300837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2학기  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수업·지도 + 각종 위원회, 학과 행사, 입시 관련 업무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58184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02920" y="37581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12~2월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3758184"/>
            <a:ext cx="6675120" cy="658368"/>
          </a:xfrm>
          <a:prstGeom prst="roundRect">
            <a:avLst>
              <a:gd name="adj" fmla="val 8333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2240280" y="380390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겨울방학  </a:t>
            </a: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집중 기간, 차년도 과제 준비, 성과 보고서 마감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학기 중에는 연구 시간이 계속 쪼개집니다. 방학을 연구의 승부처로 생각하고 계획을 세우세요.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보직과 업무 압박: 생각보다 빨리 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보직은 선택이 아닐 수 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학과일수록 학과장 등 보직이 빠르게 돌아옵니다.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학과장이 되면 입시, 학사, 행정 서류가 연구 시간을 크게 잠식합니다.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위원회,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개최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 요청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각종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대외홍보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보이지 않는 업무가 계속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쌓입니다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어떻게 하나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22402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초기에 연구 루틴(요일·시간 블록)을 먼저 확보하세요.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거절하기 어려운 업무는 기간과 범위를 명확히 합의하세요.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보직 순번, 학과 분위기는 임용 전 면접에서 확인해 볼 가치가 있습니다.</a:t>
            </a:r>
            <a:endParaRPr lang="en-US" sz="14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FD91FDD8-1C84-8F44-DF76-D2E580A81926}"/>
              </a:ext>
            </a:extLst>
          </p:cNvPr>
          <p:cNvSpPr/>
          <p:nvPr/>
        </p:nvSpPr>
        <p:spPr>
          <a:xfrm>
            <a:off x="502919" y="292608"/>
            <a:ext cx="2874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생활의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전과 후, 연구는 이렇게 달라집니다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전 (포닥)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3212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후 (교원)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시간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965960"/>
            <a:ext cx="24645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대부분을 연구에 사용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9167" y="1965960"/>
            <a:ext cx="34790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수업·행정·지도 사이의 틈새 시간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2624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주제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2624328"/>
            <a:ext cx="24645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지도교수·과제 중심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9167" y="2624328"/>
            <a:ext cx="34790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방향을 정하는 자유 (그리고 책임)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685800" y="3282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압박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31720" y="3282696"/>
            <a:ext cx="24645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편수 중심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9167" y="3282696"/>
            <a:ext cx="34790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lang="en-US" sz="12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과제 수주 + 교육 + 봉사 종합 평가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85800" y="39410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331720" y="3941064"/>
            <a:ext cx="24645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랩 중심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79167" y="3941064"/>
            <a:ext cx="34790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학과, 지역, 학회로 크게 확장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'주어진 일'에서 '지켜내야 하는 일'로 </a:t>
            </a:r>
            <a:r>
              <a:rPr 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바뀝니다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endParaRPr lang="en-US" altLang="ko-KR" sz="500" b="1" dirty="0">
              <a:solidFill>
                <a:srgbClr val="C0562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 편히 연구만 하던 </a:t>
            </a:r>
            <a:r>
              <a:rPr lang="ko-KR" alt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포닥</a:t>
            </a:r>
            <a:r>
              <a:rPr lang="ko-KR" alt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시절이 그립습니다</a:t>
            </a:r>
            <a:r>
              <a:rPr lang="en-US" altLang="ko-KR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</a:t>
            </a:r>
            <a:endParaRPr lang="en-US" sz="12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4B4C585F-BA9B-915F-E1F2-FB049CC7EB4D}"/>
              </a:ext>
            </a:extLst>
          </p:cNvPr>
          <p:cNvSpPr/>
          <p:nvPr/>
        </p:nvSpPr>
        <p:spPr>
          <a:xfrm>
            <a:off x="502919" y="292608"/>
            <a:ext cx="2874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생활의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인간관계와 쏟아지는 공동연구 제안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친목회, 그리고 학내 관계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신임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동기교수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친목회,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단과대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출신학교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관계의 장이 많습니다.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학내 정보(과제, 행정, 학과 사정)의 상당 부분이 이런 자리에서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오갑니다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무리할 필요는 없지만, 초기에는 얼굴을 익혀두는 것이 여러모로 도움이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주의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어느 모임이든 총무가 있으며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모임에 계속 </a:t>
            </a:r>
            <a:r>
              <a:rPr lang="ko-KR" alt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나간다는건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언젠가 총무를 한다는 의미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..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공동연구 제안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22402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직후부터 예상보다 많은 공동연구, 과제 참여 제안이 들어옵니다.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수락하면 정작 본인 연구가 사라집니다.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선별 기준을 미리 세우세요.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예시: 내 연구 방향과의 연결성, 역할의 명확성, 실질적 기여 가능성.</a:t>
            </a:r>
            <a:endParaRPr lang="en-US" sz="125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EDD4D74B-9E72-A99C-5358-981BBB7B0313}"/>
              </a:ext>
            </a:extLst>
          </p:cNvPr>
          <p:cNvSpPr/>
          <p:nvPr/>
        </p:nvSpPr>
        <p:spPr>
          <a:xfrm>
            <a:off x="502919" y="292608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연구 생활의 변화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연구과제 준비: 지역과 분야의 현실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선정에는 실력 외에 '분배'의 논리도 작동합니다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보다는 논문실적</a:t>
            </a:r>
            <a:r>
              <a:rPr lang="en-US" altLang="ko-KR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..?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평가하시는 교수님들께서는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다들 많이 바쁘시기 때문에 자세히 읽어볼 시간이 충분하지 않음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&gt;&gt;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경우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실적으로 평가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그치만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제안서도 열심히 작성해야 함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분배: 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사업은 지역 안배를 고려하기 때문에, 수도권과 비수도권의 경쟁 구도가 다릅니다. 소속 대학의 위치가 유리하게 작용하는 사업을 파악해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두세요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</a:t>
            </a:r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분배: 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사업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내에서도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배분이 있어, 내 분야에서 몇 개가 선정되는지에 따라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경쟁률이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달라집니다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sz="1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누적된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미선정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</a:t>
            </a:r>
            <a:r>
              <a:rPr lang="en-US" altLang="ko-KR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최소한 한번의 기회씩은 동일하게 배분되는 것 같습니다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이후에는 과제에서 생산된 논문 실적으로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CC9099-96B9-E5A0-C041-C66D8C27304C}"/>
              </a:ext>
            </a:extLst>
          </p:cNvPr>
          <p:cNvGrpSpPr/>
          <p:nvPr/>
        </p:nvGrpSpPr>
        <p:grpSpPr>
          <a:xfrm>
            <a:off x="502920" y="4572000"/>
            <a:ext cx="8138160" cy="502920"/>
            <a:chOff x="502920" y="4434840"/>
            <a:chExt cx="8138160" cy="502920"/>
          </a:xfrm>
        </p:grpSpPr>
        <p:sp>
          <p:nvSpPr>
            <p:cNvPr id="8" name="Shape 5"/>
            <p:cNvSpPr/>
            <p:nvPr/>
          </p:nvSpPr>
          <p:spPr>
            <a:xfrm>
              <a:off x="502920" y="4434840"/>
              <a:ext cx="8138160" cy="502920"/>
            </a:xfrm>
            <a:prstGeom prst="roundRect">
              <a:avLst>
                <a:gd name="adj" fmla="val 10909"/>
              </a:avLst>
            </a:prstGeom>
            <a:solidFill>
              <a:srgbClr val="EAF1FC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Text 6"/>
            <p:cNvSpPr/>
            <p:nvPr/>
          </p:nvSpPr>
          <p:spPr>
            <a:xfrm>
              <a:off x="777240" y="4480560"/>
              <a:ext cx="7680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다른 교원분들은 산업체 과제도 활발히 수행하십니다. 본인 성향에 맞는 과제 포트폴리오를 찾는 것이 중요합니다.</a:t>
              </a:r>
              <a:endParaRPr lang="en-US" sz="115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 0">
            <a:extLst>
              <a:ext uri="{FF2B5EF4-FFF2-40B4-BE49-F238E27FC236}">
                <a16:creationId xmlns:a16="http://schemas.microsoft.com/office/drawing/2014/main" id="{86DB8709-2DF0-B2D4-5B12-FDC4D3F0C33C}"/>
              </a:ext>
            </a:extLst>
          </p:cNvPr>
          <p:cNvSpPr/>
          <p:nvPr/>
        </p:nvSpPr>
        <p:spPr>
          <a:xfrm>
            <a:off x="502919" y="292608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연구 생활의 변화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sz="26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국가과학기술</a:t>
            </a:r>
            <a:r>
              <a:rPr lang="ko-KR" alt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표준분류체계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통계학 </a:t>
            </a:r>
            <a:r>
              <a:rPr lang="en-US" sz="16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중분류</a:t>
            </a: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(NA. </a:t>
            </a:r>
            <a:r>
              <a:rPr lang="en-US" sz="16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</a:t>
            </a: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NA07  통계이론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5897880" cy="68580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97180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모수추론, 비모수추론, 베이지안추론, 분포이론, 달리 분류되지 않는 통계이론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NA08  통계방법론·계산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194560"/>
            <a:ext cx="5897880" cy="68580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2971800" y="2240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선형모형, 실험계획, 다변량통계, 시계열/공간자료분석, 생존분석, 표본조사, 통계계산 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NA09  응용통계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017520"/>
            <a:ext cx="5897880" cy="68580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2971800" y="3063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의학/생물통계, 경제/경영통계, 금융/보험통계, 사회/심리통계, 환경통계, 공업통계 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NA10  확률/확률과정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840480"/>
            <a:ext cx="5897880" cy="68580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2971800" y="3886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확률론, 확률과정, 확률극한이론, 확률해석학, 응용확률 등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</a:t>
            </a: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걱정보다</a:t>
            </a: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수월했습니다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의외로 괜찮았던 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교재, 공개 강의 자료, AI 도구 등 활용 가능한 자원이 </a:t>
            </a:r>
            <a:r>
              <a:rPr lang="en-US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많습니다</a:t>
            </a: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Mathpix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(Image to LaTeX)</a:t>
            </a:r>
            <a:r>
              <a:rPr lang="ko-KR" alt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활용하면 강의자료 제작 수월합니다</a:t>
            </a:r>
            <a:r>
              <a:rPr lang="en-US" altLang="ko-KR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학기가 가장 힘들고, 이후에는 자료가 축적되며 부담이 줄어듭니다.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BEE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493776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강의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2240280"/>
            <a:ext cx="3520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영어가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능숙하지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않아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부담이었습니다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학교마다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다르므로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보세요</a:t>
            </a:r>
            <a:r>
              <a:rPr 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rgbClr val="2226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ko-KR" alt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지방국립대 학생들은 영어를 잘 못해서 강의자료를 한글로 만듭니다</a:t>
            </a:r>
            <a:r>
              <a:rPr lang="en-US" altLang="ko-KR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 한글 표현법이 익숙하지 않아 이것 역시 불편합니다</a:t>
            </a:r>
            <a:r>
              <a:rPr lang="en-US" altLang="ko-KR" sz="12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25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F182F28-0573-CAF8-B712-DEA5C80D95AD}"/>
              </a:ext>
            </a:extLst>
          </p:cNvPr>
          <p:cNvSpPr/>
          <p:nvPr/>
        </p:nvSpPr>
        <p:spPr>
          <a:xfrm>
            <a:off x="502919" y="292608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연구 생활의 변화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평가위원 활동: 뜻밖의 배움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후 각종 평가위원 요청이 들어오기 시작합니다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18" y="2103120"/>
            <a:ext cx="8242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평가인가   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연구과제 선정·결과 평가, 논문 심사,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채용면접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각종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18" y="2971800"/>
            <a:ext cx="8242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해볼 만한가   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연구자들의 제안서를 읽으며 '선정되는 제안서'의 공통점을 배울 수 있습니다. 	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</a:t>
            </a:r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공공기관 채용 담당자가 어떤 인재를 원하는지를 파악할 수 있습니다</a:t>
            </a:r>
            <a:r>
              <a:rPr lang="en-US" altLang="ko-KR" sz="140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18" y="3840480"/>
            <a:ext cx="82427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   </a:t>
            </a:r>
            <a:r>
              <a:rPr 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꽤 소요되므로, 학기 중 일정과 겹치지 않게 수락 여부를 조절하세요.</a:t>
            </a:r>
            <a:endParaRPr lang="en-US" sz="1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89FE3B66-023D-5E22-7F84-FA4FAC3AFF21}"/>
              </a:ext>
            </a:extLst>
          </p:cNvPr>
          <p:cNvSpPr/>
          <p:nvPr/>
        </p:nvSpPr>
        <p:spPr>
          <a:xfrm>
            <a:off x="502919" y="292608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연구 생활의 변화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1FD84-A51B-9977-8031-93F6295B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E256FCE7-AF29-3F7D-85BF-26A1E6ACC366}"/>
              </a:ext>
            </a:extLst>
          </p:cNvPr>
          <p:cNvGrpSpPr/>
          <p:nvPr/>
        </p:nvGrpSpPr>
        <p:grpSpPr>
          <a:xfrm>
            <a:off x="502920" y="1947672"/>
            <a:ext cx="8138160" cy="548640"/>
            <a:chOff x="502920" y="2176272"/>
            <a:chExt cx="8138160" cy="548640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35B9B813-D592-6B59-7F7F-135F841AEEB9}"/>
                </a:ext>
              </a:extLst>
            </p:cNvPr>
            <p:cNvSpPr/>
            <p:nvPr/>
          </p:nvSpPr>
          <p:spPr>
            <a:xfrm>
              <a:off x="502920" y="2176272"/>
              <a:ext cx="8138160" cy="548640"/>
            </a:xfrm>
            <a:prstGeom prst="roundRect">
              <a:avLst>
                <a:gd name="adj" fmla="val 4000"/>
              </a:avLst>
            </a:prstGeom>
            <a:solidFill>
              <a:srgbClr val="F7F9FD"/>
            </a:solidFill>
            <a:ln w="12700">
              <a:solidFill>
                <a:srgbClr val="E1E8F5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5F7B0971-59C0-1F60-C7D1-BE6EECC1159D}"/>
                </a:ext>
              </a:extLst>
            </p:cNvPr>
            <p:cNvSpPr/>
            <p:nvPr/>
          </p:nvSpPr>
          <p:spPr>
            <a:xfrm>
              <a:off x="822959" y="2176272"/>
              <a:ext cx="762392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spcAft>
                  <a:spcPts val="500"/>
                </a:spcAft>
                <a:buSzPct val="100000"/>
              </a:pP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통계학 지원자가 없거나</a:t>
              </a:r>
              <a:r>
                <a:rPr lang="en-US" altLang="ko-KR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</a:t>
              </a: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200" dirty="0" err="1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뽑아놓으면</a:t>
              </a: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수도권으로 이직한다</a:t>
              </a:r>
              <a:r>
                <a:rPr lang="en-US" altLang="ko-KR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en-US" sz="1200" dirty="0" err="1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부산대</a:t>
              </a:r>
              <a:r>
                <a:rPr 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200" dirty="0" err="1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전남대</a:t>
              </a:r>
              <a:r>
                <a:rPr 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200" dirty="0" err="1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충북대</a:t>
              </a:r>
              <a:r>
                <a:rPr 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200" dirty="0" err="1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등</a:t>
              </a: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거점 국립대 포함</a:t>
              </a:r>
              <a:r>
                <a:rPr lang="en-US" altLang="ko-KR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r>
                <a:rPr lang="ko-KR" altLang="en-US" sz="1200" dirty="0">
                  <a:solidFill>
                    <a:srgbClr val="5A647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endParaRPr lang="en-US" sz="1200" dirty="0"/>
            </a:p>
          </p:txBody>
        </p: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78ACAA16-DC97-C4DD-3F8A-F02406891E70}"/>
              </a:ext>
            </a:extLst>
          </p:cNvPr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채용의</a:t>
            </a: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</a:t>
            </a:r>
            <a:r>
              <a:rPr lang="en-US" altLang="ko-KR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통계학 지원자가 없다</a:t>
            </a:r>
            <a:r>
              <a:rPr lang="en-US" altLang="ko-KR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4C1A23C-A46D-BE54-13C7-772D1CEC1480}"/>
              </a:ext>
            </a:extLst>
          </p:cNvPr>
          <p:cNvSpPr/>
          <p:nvPr/>
        </p:nvSpPr>
        <p:spPr>
          <a:xfrm>
            <a:off x="1819520" y="1261872"/>
            <a:ext cx="550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통계학 지원자는 없고 전자공학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600" b="1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산업공학는</a:t>
            </a: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많다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3C6A429-93E5-14F6-B7A8-0E237C5CD681}"/>
              </a:ext>
            </a:extLst>
          </p:cNvPr>
          <p:cNvSpPr/>
          <p:nvPr/>
        </p:nvSpPr>
        <p:spPr>
          <a:xfrm>
            <a:off x="502919" y="292608"/>
            <a:ext cx="252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지방국립대 교수</a:t>
            </a:r>
            <a:endParaRPr lang="en-US" sz="12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7B95457-DF97-ECC8-2EBF-CD1CCE90F754}"/>
              </a:ext>
            </a:extLst>
          </p:cNvPr>
          <p:cNvSpPr/>
          <p:nvPr/>
        </p:nvSpPr>
        <p:spPr>
          <a:xfrm>
            <a:off x="502917" y="2805850"/>
            <a:ext cx="8550547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전임교원 초빙 정원배정 신청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7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전체 교수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 등에 의해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정해져있음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 학기마다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학과 사람 부족하니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신청합니다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받으며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총장이 이를 바탕으로 학과마다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배정함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</a:rPr>
              <a:t>※ </a:t>
            </a:r>
            <a:r>
              <a:rPr lang="ko-KR" altLang="en-US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</a:rPr>
              <a:t>총장이 권한을 남용하여 </a:t>
            </a:r>
            <a:r>
              <a:rPr lang="en-US" altLang="ko-KR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</a:rPr>
              <a:t>TO</a:t>
            </a:r>
            <a:r>
              <a:rPr lang="ko-KR" altLang="en-US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</a:rPr>
              <a:t> 배정을 불공정하게 할 수도 있음</a:t>
            </a:r>
            <a:r>
              <a:rPr lang="en-US" altLang="ko-KR" sz="16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사례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모대학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산업공학과에서 정년퇴직으로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명의 결원에 대해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TO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명을 신청하였으나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전혀 받지 못함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4945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반드시 주의해야 할 것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행정은 스스로 확인해야 합니다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8138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호봉 산정, 반드시 직접 검증하세요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인정 과정에서 사소한 숫자 하나의 오류가 평생 기준으로 수천만 원의 손실로 이어질 수 있습니다. 임용 직후 호봉 산정 내역서를 받아 경력 기간, 인정 비율을 한 줄씩 대조하세요.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333756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행정 처리를 무조건 </a:t>
            </a:r>
            <a:r>
              <a:rPr lang="en-US" sz="16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믿지</a:t>
            </a:r>
            <a:r>
              <a:rPr lang="en-US" sz="16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6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마세요</a:t>
            </a:r>
            <a:endParaRPr lang="en-US" sz="1600" b="1" dirty="0">
              <a:solidFill>
                <a:srgbClr val="C05621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악의가</a:t>
            </a:r>
            <a:r>
              <a:rPr lang="en-US" sz="13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 아니라 구조의 문제입니다. 담당자는 자주 바뀌고, 업무는 보수적으로 처리되며, 물품 구매 하나도 소극적으로 진행되는 경우가 많습니다. 중요한 사안은 지침 원문을 직접 확인하고 서면(이메일)으로 기록을 </a:t>
            </a:r>
            <a:r>
              <a:rPr lang="en-US" sz="1300" dirty="0" err="1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남기세요</a:t>
            </a:r>
            <a:r>
              <a:rPr lang="en-US" sz="13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2430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반드시 주의해야 할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겪은 두 가지 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ChatGPT 활용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2024년, 수업에서 ChatGPT를 활용하고자 여러 부서에 문의했습니다.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답변은 '절대 불가능'.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지금은 가능합니다.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규정이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 바뀐 </a:t>
            </a:r>
            <a:r>
              <a:rPr 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걸까요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</a:rPr>
              <a:t>?</a:t>
            </a:r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7F9FD"/>
          </a:solidFill>
          <a:ln w="12700">
            <a:solidFill>
              <a:srgbClr val="E1E8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초청 특강료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2860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 교수님을 초청해 특강을 진행했습니다.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지침에는 외국인의 경우 특강료 2배 지급이 가능하다고 명시되어 있었습니다.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사업단 답변은 '2배 불가, 1배로 지급하라'.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지침이 있어도 실행되지 않는 이유는?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그럴까? '선례가 없다'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문화의 핵심 논리를 이해하면 대응이 쉬워집니다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05740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FBEE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822960" y="221284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원인: </a:t>
            </a:r>
            <a:r>
              <a:rPr lang="en-US" sz="130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교직원, 특히 공무원 신분의 담당자는 교육부 감사에 대해 방어적일 수밖에 없습니다. '해도 되는 일'보다 '문제가 되지 않을 일'을 선택하게 되고, 그 결과 선례 없는 시도는 원천적으로 거절되기 쉽습니다.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이렇게 대응하세요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지침·규정의 원문을 직접 찾아 근거 조항과 함께 서면으로 문의하세요.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'다른 대학·사업단의 선례'를 찾아 제시하면 통과 확률이 크게 올라갑니다.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답변은 남지 않습니다. 중요한 결정은 반드시 이메일로 기록을 남기세요.</a:t>
            </a:r>
            <a:endParaRPr lang="en-US" sz="125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633381E-F215-B580-7523-FA8DC6CC382D}"/>
              </a:ext>
            </a:extLst>
          </p:cNvPr>
          <p:cNvSpPr/>
          <p:nvPr/>
        </p:nvSpPr>
        <p:spPr>
          <a:xfrm>
            <a:off x="502919" y="292608"/>
            <a:ext cx="2430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반드시 주의해야 할 것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B9C76-25F9-407A-7550-E4E48295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CFE5F39-E2C3-4B59-EADC-B3B7AACE4F05}"/>
              </a:ext>
            </a:extLst>
          </p:cNvPr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불구하고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1F1753-C58E-B132-F1AE-BEA7D8B03283}"/>
              </a:ext>
            </a:extLst>
          </p:cNvPr>
          <p:cNvSpPr/>
          <p:nvPr/>
        </p:nvSpPr>
        <p:spPr>
          <a:xfrm>
            <a:off x="1548142" y="1417319"/>
            <a:ext cx="6727177" cy="300077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>
              <a:lnSpc>
                <a:spcPct val="170000"/>
              </a:lnSpc>
            </a:pP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유연한 업무시간과</a:t>
            </a:r>
            <a:endParaRPr lang="en-US" altLang="ko-KR" sz="1600" b="1" dirty="0">
              <a:solidFill>
                <a:srgbClr val="2226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학생들을 가르치는 것에서 보람을 얻고</a:t>
            </a:r>
            <a:endParaRPr lang="en-US" altLang="ko-KR" sz="1600" b="1" dirty="0">
              <a:solidFill>
                <a:srgbClr val="2226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70000"/>
              </a:lnSpc>
            </a:pP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하고 싶은 연구를 마음껏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(?)</a:t>
            </a: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하고 싶다면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>
              <a:lnSpc>
                <a:spcPct val="170000"/>
              </a:lnSpc>
            </a:pPr>
            <a:endParaRPr lang="en-US" altLang="ko-KR" sz="1600" b="1" dirty="0">
              <a:solidFill>
                <a:srgbClr val="2226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70000"/>
              </a:lnSpc>
            </a:pPr>
            <a:r>
              <a:rPr lang="ko-KR" altLang="en-US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지방국립대도 좋은 선택지가 될 수 있습니다</a:t>
            </a:r>
            <a:r>
              <a:rPr lang="en-US" altLang="ko-KR" sz="1600" b="1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329A9AA-B20E-1D8D-66DE-F43379DF0AEB}"/>
              </a:ext>
            </a:extLst>
          </p:cNvPr>
          <p:cNvSpPr/>
          <p:nvPr/>
        </p:nvSpPr>
        <p:spPr>
          <a:xfrm>
            <a:off x="502919" y="292608"/>
            <a:ext cx="2430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반드시 주의해야 할 것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3356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A0CB7-E81E-B51F-2F32-960CB852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8BAE3AB-D8C1-3E14-4A65-18660EBC22B3}"/>
              </a:ext>
            </a:extLst>
          </p:cNvPr>
          <p:cNvSpPr/>
          <p:nvPr/>
        </p:nvSpPr>
        <p:spPr>
          <a:xfrm>
            <a:off x="502920" y="530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해두면 </a:t>
            </a:r>
            <a:r>
              <a:rPr lang="ko-KR" alt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좋은것들</a:t>
            </a:r>
            <a:endParaRPr lang="en-US" sz="28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37F73FB-51D1-EB45-EFB5-7E5836CF4087}"/>
              </a:ext>
            </a:extLst>
          </p:cNvPr>
          <p:cNvSpPr/>
          <p:nvPr/>
        </p:nvSpPr>
        <p:spPr>
          <a:xfrm>
            <a:off x="502919" y="292608"/>
            <a:ext cx="2430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반드시 주의해야 할 것</a:t>
            </a:r>
            <a:endParaRPr lang="en-US" sz="12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18557012-8867-A079-07DD-BB206CC33567}"/>
              </a:ext>
            </a:extLst>
          </p:cNvPr>
          <p:cNvSpPr/>
          <p:nvPr/>
        </p:nvSpPr>
        <p:spPr>
          <a:xfrm>
            <a:off x="502920" y="158877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만들기</a:t>
            </a: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sites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</a:t>
            </a:r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운동 꾸준하게 하기 </a:t>
            </a:r>
            <a:r>
              <a:rPr lang="ko-KR" altLang="en-US" sz="1400" b="1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통계학 박사님들 다들 어딘가 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아프셔요</a:t>
            </a:r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논문 열심히 써두기  </a:t>
            </a:r>
            <a:r>
              <a:rPr lang="ko-KR" altLang="en-US" sz="1400" dirty="0" err="1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교수되면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시간 많이 줄어들어요</a:t>
            </a:r>
            <a:endParaRPr lang="en-US" altLang="ko-KR" sz="1400" b="1" dirty="0">
              <a:solidFill>
                <a:srgbClr val="1E2761"/>
              </a:solidFill>
              <a:latin typeface="Malgun Gothic" pitchFamily="34" charset="0"/>
              <a:ea typeface="Malgun Gothic" pitchFamily="34" charset="-122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400" dirty="0">
              <a:solidFill>
                <a:srgbClr val="5A647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해외 연구자와의 네트워킹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G-LAMP</a:t>
            </a:r>
            <a:r>
              <a:rPr lang="ko-KR" altLang="en-US" sz="14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국제공동연구를 </a:t>
            </a:r>
            <a:r>
              <a:rPr lang="ko-KR" altLang="en-US" sz="140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요구하는 과제</a:t>
            </a:r>
            <a:endParaRPr lang="en-US" altLang="ko-KR" sz="1400" b="1" dirty="0">
              <a:solidFill>
                <a:srgbClr val="1E2761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052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마무리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1645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왜 교수가 되고 싶은가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 err="1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연구하는</a:t>
            </a:r>
            <a:r>
              <a:rPr lang="en-US" sz="2000" b="1" i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i="1" dirty="0" err="1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</a:t>
            </a:r>
            <a:r>
              <a:rPr lang="en-US" sz="2000" b="1" i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i="1" dirty="0" err="1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좋아서</a:t>
            </a:r>
            <a:r>
              <a:rPr lang="en-US" altLang="ko-KR" sz="2000" b="1" i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임용 후 학회에 나가지 않게 되고 연구가 시들해지는 경우를 자주 봅니다. 많은 어려움이 있다는 것을 알지만, 결국 이 질문으로 돌아와야 합니다.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6E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학회에 자주 나가고, 본인의 연구 방향을 계속 변화시키고 확장해 </a:t>
            </a:r>
            <a:r>
              <a:rPr lang="en-US" sz="1600" dirty="0" err="1">
                <a:solidFill>
                  <a:srgbClr val="D6E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나가세요</a:t>
            </a:r>
            <a:r>
              <a:rPr lang="en-US" sz="1600" dirty="0">
                <a:solidFill>
                  <a:srgbClr val="D6E2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801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연락처: OOO@OOO.ac.kr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11271</TotalTime>
  <Words>1769</Words>
  <Application>Microsoft Macintosh PowerPoint</Application>
  <PresentationFormat>On-screen Show (16:9)</PresentationFormat>
  <Paragraphs>254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Malgun Gothic</vt:lpstr>
      <vt:lpstr>Arial</vt:lpstr>
      <vt:lpstr>Calibri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History  (www.statpng.com)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G-LAMP 포닥 커리어 컨설팅</dc:title>
  <dc:subject>PptxGenJS Presentation</dc:subject>
  <dc:creator>PptxGenJS</dc:creator>
  <cp:lastModifiedBy>Jill</cp:lastModifiedBy>
  <cp:revision>434</cp:revision>
  <dcterms:created xsi:type="dcterms:W3CDTF">2026-07-08T05:36:04Z</dcterms:created>
  <dcterms:modified xsi:type="dcterms:W3CDTF">2026-07-16T02:52:11Z</dcterms:modified>
</cp:coreProperties>
</file>